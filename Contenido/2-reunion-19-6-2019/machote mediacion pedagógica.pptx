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74" d="100"/>
          <a:sy n="74" d="100"/>
        </p:scale>
        <p:origin x="456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8EBE7-9F8E-4327-8F8E-0F1BD19E50DC}" type="datetimeFigureOut">
              <a:rPr lang="es-CR" smtClean="0"/>
              <a:t>19/06/2019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F312-ADB7-4251-A61F-293B28D3F301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496264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8EBE7-9F8E-4327-8F8E-0F1BD19E50DC}" type="datetimeFigureOut">
              <a:rPr lang="es-CR" smtClean="0"/>
              <a:t>19/06/2019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F312-ADB7-4251-A61F-293B28D3F301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856125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8EBE7-9F8E-4327-8F8E-0F1BD19E50DC}" type="datetimeFigureOut">
              <a:rPr lang="es-CR" smtClean="0"/>
              <a:t>19/06/2019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F312-ADB7-4251-A61F-293B28D3F301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11291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8EBE7-9F8E-4327-8F8E-0F1BD19E50DC}" type="datetimeFigureOut">
              <a:rPr lang="es-CR" smtClean="0"/>
              <a:t>19/06/2019</a:t>
            </a:fld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F312-ADB7-4251-A61F-293B28D3F301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62025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8EBE7-9F8E-4327-8F8E-0F1BD19E50DC}" type="datetimeFigureOut">
              <a:rPr lang="es-CR" smtClean="0"/>
              <a:t>19/06/2019</a:t>
            </a:fld>
            <a:endParaRPr lang="es-C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F312-ADB7-4251-A61F-293B28D3F301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012694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8EBE7-9F8E-4327-8F8E-0F1BD19E50DC}" type="datetimeFigureOut">
              <a:rPr lang="es-CR" smtClean="0"/>
              <a:t>19/06/2019</a:t>
            </a:fld>
            <a:endParaRPr lang="es-C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F312-ADB7-4251-A61F-293B28D3F301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549905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8EBE7-9F8E-4327-8F8E-0F1BD19E50DC}" type="datetimeFigureOut">
              <a:rPr lang="es-CR" smtClean="0"/>
              <a:t>19/06/2019</a:t>
            </a:fld>
            <a:endParaRPr lang="es-C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F312-ADB7-4251-A61F-293B28D3F301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627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8EBE7-9F8E-4327-8F8E-0F1BD19E50DC}" type="datetimeFigureOut">
              <a:rPr lang="es-CR" smtClean="0"/>
              <a:t>19/06/2019</a:t>
            </a:fld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F312-ADB7-4251-A61F-293B28D3F301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339945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8EBE7-9F8E-4327-8F8E-0F1BD19E50DC}" type="datetimeFigureOut">
              <a:rPr lang="es-CR" smtClean="0"/>
              <a:t>19/06/2019</a:t>
            </a:fld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F312-ADB7-4251-A61F-293B28D3F301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554688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8EBE7-9F8E-4327-8F8E-0F1BD19E50DC}" type="datetimeFigureOut">
              <a:rPr lang="es-CR" smtClean="0"/>
              <a:t>19/06/2019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F312-ADB7-4251-A61F-293B28D3F301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553794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8EBE7-9F8E-4327-8F8E-0F1BD19E50DC}" type="datetimeFigureOut">
              <a:rPr lang="es-CR" smtClean="0"/>
              <a:t>19/06/2019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F312-ADB7-4251-A61F-293B28D3F301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141505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8EBE7-9F8E-4327-8F8E-0F1BD19E50DC}" type="datetimeFigureOut">
              <a:rPr lang="es-CR" smtClean="0"/>
              <a:t>19/06/2019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0F312-ADB7-4251-A61F-293B28D3F301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970991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3.0/cr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>
            <a:spLocks noGrp="1"/>
          </p:cNvSpPr>
          <p:nvPr>
            <p:ph type="subTitle" idx="1"/>
          </p:nvPr>
        </p:nvSpPr>
        <p:spPr>
          <a:xfrm>
            <a:off x="8324604" y="3317233"/>
            <a:ext cx="3626768" cy="1919785"/>
          </a:xfrm>
        </p:spPr>
        <p:txBody>
          <a:bodyPr>
            <a:normAutofit/>
          </a:bodyPr>
          <a:lstStyle/>
          <a:p>
            <a:pPr algn="r" eaLnBrk="1" hangingPunct="1"/>
            <a:r>
              <a:rPr lang="es-CR" altLang="es-CR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risten ITC" panose="03050502040202030202" pitchFamily="66" charset="0"/>
              </a:rPr>
              <a:t>Gestión y Producción de </a:t>
            </a:r>
          </a:p>
          <a:p>
            <a:pPr algn="r" eaLnBrk="1" hangingPunct="1"/>
            <a:r>
              <a:rPr lang="es-CR" altLang="es-CR" sz="1600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risten ITC" panose="03050502040202030202" pitchFamily="66" charset="0"/>
              </a:rPr>
              <a:t>Recursos </a:t>
            </a:r>
            <a:r>
              <a:rPr lang="es-CR" altLang="es-CR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risten ITC" panose="03050502040202030202" pitchFamily="66" charset="0"/>
              </a:rPr>
              <a:t>(GESPRO)</a:t>
            </a:r>
          </a:p>
          <a:p>
            <a:pPr algn="r" eaLnBrk="1" hangingPunct="1"/>
            <a:r>
              <a:rPr lang="es-CR" altLang="es-CR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risten ITC" panose="03050502040202030202" pitchFamily="66" charset="0"/>
              </a:rPr>
              <a:t>Sonia Hernández </a:t>
            </a:r>
            <a:r>
              <a:rPr lang="es-CR" altLang="es-CR" sz="1600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risten ITC" panose="03050502040202030202" pitchFamily="66" charset="0"/>
              </a:rPr>
              <a:t>González</a:t>
            </a:r>
          </a:p>
          <a:p>
            <a:pPr algn="r" eaLnBrk="1" hangingPunct="1"/>
            <a:r>
              <a:rPr lang="es-CR" altLang="es-CR" sz="1600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risten ITC" panose="03050502040202030202" pitchFamily="66" charset="0"/>
              </a:rPr>
              <a:t>Octubre, 2017</a:t>
            </a:r>
            <a:endParaRPr lang="es-CR" altLang="es-CR" sz="1600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471020" y="1707471"/>
            <a:ext cx="300274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R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risten ITC" panose="03050502040202030202" pitchFamily="66" charset="0"/>
              </a:rPr>
              <a:t>Mediación </a:t>
            </a:r>
          </a:p>
          <a:p>
            <a:pPr algn="ctr"/>
            <a:r>
              <a:rPr lang="es-CR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risten ITC" panose="03050502040202030202" pitchFamily="66" charset="0"/>
              </a:rPr>
              <a:t>sugerida</a:t>
            </a:r>
            <a:endParaRPr lang="es-CR" sz="4000" b="1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risten ITC" panose="03050502040202030202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723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627527" y="1554052"/>
            <a:ext cx="7878938" cy="4454861"/>
          </a:xfrm>
        </p:spPr>
        <p:txBody>
          <a:bodyPr>
            <a:normAutofit fontScale="62500" lnSpcReduction="20000"/>
          </a:bodyPr>
          <a:lstStyle/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s-CR" b="1" dirty="0"/>
              <a:t>Estructura del </a:t>
            </a:r>
            <a:r>
              <a:rPr lang="es-CR" b="1" dirty="0" smtClean="0"/>
              <a:t>documento:</a:t>
            </a:r>
            <a:endParaRPr lang="es-CR" b="1" dirty="0"/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es-CR" sz="2400" dirty="0" smtClean="0"/>
              <a:t>Introducción. (esta información es la siguiente)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es-CR" sz="2400" dirty="0"/>
              <a:t>Ubicación en el programa de </a:t>
            </a:r>
            <a:r>
              <a:rPr lang="es-CR" sz="2400" dirty="0" smtClean="0"/>
              <a:t>estudio.</a:t>
            </a:r>
            <a:endParaRPr lang="es-CR" sz="2400" dirty="0"/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es-CR" sz="2400" dirty="0" smtClean="0"/>
              <a:t>Descriptivo </a:t>
            </a:r>
            <a:r>
              <a:rPr lang="es-CR" sz="2400" dirty="0"/>
              <a:t>del </a:t>
            </a:r>
            <a:r>
              <a:rPr lang="es-CR" sz="2400" dirty="0" smtClean="0"/>
              <a:t>recurso.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es-CR" sz="2400" dirty="0" smtClean="0"/>
              <a:t>Reseña histórica  (pequeña)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es-CR" sz="2400" dirty="0" smtClean="0"/>
              <a:t>Destrezas, habilidades, competencias o saberes que aborda.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es-CR" sz="2400" dirty="0" smtClean="0"/>
              <a:t>Objetivos.</a:t>
            </a:r>
            <a:endParaRPr lang="es-CR" sz="2400" dirty="0"/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es-CR" sz="2400" dirty="0" smtClean="0"/>
              <a:t>Sugerencias para implementación en el aula.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es-CR" sz="2400" dirty="0" smtClean="0"/>
              <a:t>Manuales de usuario, cuando sea pertinente.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es-CR" sz="2400" dirty="0" smtClean="0"/>
              <a:t>Evaluación, si es del caso.</a:t>
            </a:r>
            <a:endParaRPr lang="es-CR" sz="2400" dirty="0"/>
          </a:p>
          <a:p>
            <a:endParaRPr lang="es-CR" sz="1800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11454" y="586636"/>
            <a:ext cx="8183880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R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risten ITC" panose="03050502040202030202" pitchFamily="66" charset="0"/>
              </a:rPr>
              <a:t>Mediación sugerida (MS)</a:t>
            </a:r>
            <a:endParaRPr lang="es-C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risten ITC" panose="03050502040202030202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48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32933" y="1372136"/>
            <a:ext cx="9671093" cy="5130896"/>
          </a:xfrm>
        </p:spPr>
        <p:txBody>
          <a:bodyPr>
            <a:normAutofit fontScale="55000" lnSpcReduction="20000"/>
          </a:bodyPr>
          <a:lstStyle/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s-CR" sz="4200" b="1" dirty="0">
                <a:latin typeface="Kristen ITC" panose="03050502040202030202" pitchFamily="66" charset="0"/>
              </a:rPr>
              <a:t>Introducción:</a:t>
            </a:r>
          </a:p>
          <a:p>
            <a:pPr>
              <a:lnSpc>
                <a:spcPct val="134000"/>
              </a:lnSpc>
              <a:spcBef>
                <a:spcPts val="800"/>
              </a:spcBef>
              <a:spcAft>
                <a:spcPts val="800"/>
              </a:spcAft>
            </a:pPr>
            <a:r>
              <a:rPr lang="es-CR" sz="3300" dirty="0" smtClean="0"/>
              <a:t>La </a:t>
            </a:r>
            <a:r>
              <a:rPr lang="es-CR" sz="3300" dirty="0"/>
              <a:t>Dirección de Recursos Tecnológicos en Educación </a:t>
            </a:r>
            <a:r>
              <a:rPr lang="es-CR" sz="3300" dirty="0" smtClean="0"/>
              <a:t>y la Dirección de Desarrollo Curricular del </a:t>
            </a:r>
            <a:r>
              <a:rPr lang="es-CR" sz="3300" dirty="0"/>
              <a:t>MEP, con el fin de dotar a la comunidad educativa con opciones </a:t>
            </a:r>
            <a:r>
              <a:rPr lang="es-CR" sz="3300" dirty="0" smtClean="0"/>
              <a:t>pertinentes, modernas </a:t>
            </a:r>
            <a:r>
              <a:rPr lang="es-CR" sz="3300" dirty="0"/>
              <a:t>y </a:t>
            </a:r>
            <a:r>
              <a:rPr lang="es-CR" sz="3300" dirty="0" smtClean="0"/>
              <a:t>lúdicas para </a:t>
            </a:r>
            <a:r>
              <a:rPr lang="es-CR" sz="3300" dirty="0"/>
              <a:t>el trabajo de aula, </a:t>
            </a:r>
            <a:r>
              <a:rPr lang="es-CR" sz="3300" dirty="0" smtClean="0"/>
              <a:t>gestiona y desarrolla recursos </a:t>
            </a:r>
            <a:r>
              <a:rPr lang="es-CR" sz="3300" dirty="0"/>
              <a:t>digitales para el aprendizaje, que pone a su </a:t>
            </a:r>
            <a:r>
              <a:rPr lang="es-CR" sz="3300" dirty="0" smtClean="0"/>
              <a:t>disposición sin ningún costo y bajo licencia </a:t>
            </a:r>
            <a:r>
              <a:rPr lang="es-CR" sz="3300" dirty="0" smtClean="0">
                <a:hlinkClick r:id="rId2"/>
              </a:rPr>
              <a:t>CC-BY-NC-SA</a:t>
            </a:r>
            <a:r>
              <a:rPr lang="es-CR" sz="3300" dirty="0" smtClean="0"/>
              <a:t>.</a:t>
            </a:r>
            <a:endParaRPr lang="es-CR" sz="3300" dirty="0"/>
          </a:p>
          <a:p>
            <a:pPr>
              <a:lnSpc>
                <a:spcPct val="134000"/>
              </a:lnSpc>
              <a:spcBef>
                <a:spcPts val="800"/>
              </a:spcBef>
              <a:spcAft>
                <a:spcPts val="800"/>
              </a:spcAft>
            </a:pPr>
            <a:r>
              <a:rPr lang="es-CR" sz="3300" dirty="0"/>
              <a:t>Estos recursos por lo general están acompañados de </a:t>
            </a:r>
            <a:r>
              <a:rPr lang="es-CR" sz="3300" dirty="0" smtClean="0"/>
              <a:t>este </a:t>
            </a:r>
            <a:r>
              <a:rPr lang="es-CR" sz="3300" dirty="0"/>
              <a:t>documento de “</a:t>
            </a:r>
            <a:r>
              <a:rPr lang="es-CR" sz="3300"/>
              <a:t>Mediación </a:t>
            </a:r>
            <a:r>
              <a:rPr lang="es-CR" sz="3300" dirty="0"/>
              <a:t>s</a:t>
            </a:r>
            <a:r>
              <a:rPr lang="es-CR" sz="3300" smtClean="0"/>
              <a:t>ugerida</a:t>
            </a:r>
            <a:r>
              <a:rPr lang="es-CR" sz="3300" dirty="0"/>
              <a:t>” o </a:t>
            </a:r>
            <a:r>
              <a:rPr lang="es-CR" sz="3300" dirty="0" smtClean="0"/>
              <a:t>MS</a:t>
            </a:r>
            <a:r>
              <a:rPr lang="es-CR" sz="3300" dirty="0"/>
              <a:t>, ya que fueron pensados tomando en cuenta  una determinada forma de emplearlos. Sin embargo, considerando que al igual que el docente, cada grupo, </a:t>
            </a:r>
            <a:r>
              <a:rPr lang="es-CR" sz="3300" dirty="0" smtClean="0"/>
              <a:t>centro educativo y </a:t>
            </a:r>
            <a:r>
              <a:rPr lang="es-CR" sz="3300" dirty="0"/>
              <a:t>comunidad </a:t>
            </a:r>
            <a:r>
              <a:rPr lang="es-CR" sz="3300" dirty="0" smtClean="0"/>
              <a:t>tienen </a:t>
            </a:r>
            <a:r>
              <a:rPr lang="es-CR" sz="3300" dirty="0"/>
              <a:t>características, necesidades e intereses diferentes, </a:t>
            </a:r>
            <a:r>
              <a:rPr lang="es-CR" sz="3300" dirty="0" smtClean="0"/>
              <a:t>usted es libre de seguir </a:t>
            </a:r>
            <a:r>
              <a:rPr lang="es-CR" sz="3300" dirty="0"/>
              <a:t>las sugerencias de mediación o bien, utilizar </a:t>
            </a:r>
            <a:r>
              <a:rPr lang="es-CR" sz="3300" dirty="0" smtClean="0"/>
              <a:t>otras que considere convenientes.</a:t>
            </a:r>
            <a:endParaRPr lang="es-CR" sz="3300" dirty="0"/>
          </a:p>
          <a:p>
            <a:pPr>
              <a:lnSpc>
                <a:spcPct val="134000"/>
              </a:lnSpc>
              <a:spcBef>
                <a:spcPts val="800"/>
              </a:spcBef>
              <a:spcAft>
                <a:spcPts val="800"/>
              </a:spcAft>
            </a:pPr>
            <a:r>
              <a:rPr lang="es-CR" sz="3300" dirty="0"/>
              <a:t>En cualquiera de los dos casos</a:t>
            </a:r>
            <a:r>
              <a:rPr lang="es-CR" sz="3300" dirty="0" smtClean="0"/>
              <a:t>, le extendemos nuestra invitación para </a:t>
            </a:r>
            <a:r>
              <a:rPr lang="es-CR" sz="3300" dirty="0"/>
              <a:t>compartir sus experiencias en el espacio destinado para los comentarios acerca de este recurso.</a:t>
            </a:r>
          </a:p>
          <a:p>
            <a:endParaRPr lang="es-CR" dirty="0">
              <a:latin typeface="Kristen ITC" panose="03050502040202030202" pitchFamily="66" charset="0"/>
            </a:endParaRP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279923" y="365918"/>
            <a:ext cx="8183880" cy="9359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R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Mediación sugerida (MS)</a:t>
            </a:r>
            <a:endParaRPr lang="es-C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331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9384997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253</Words>
  <Application>Microsoft Office PowerPoint</Application>
  <PresentationFormat>Panorámica</PresentationFormat>
  <Paragraphs>22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Kristen ITC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Sonia Hernández González</dc:creator>
  <cp:lastModifiedBy>User</cp:lastModifiedBy>
  <cp:revision>13</cp:revision>
  <dcterms:created xsi:type="dcterms:W3CDTF">2017-10-18T23:56:33Z</dcterms:created>
  <dcterms:modified xsi:type="dcterms:W3CDTF">2019-06-19T20:34:34Z</dcterms:modified>
</cp:coreProperties>
</file>